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280160"/>
            <a:ext cx="914400" cy="640080"/>
          </a:xfrm>
          <a:prstGeom prst="line">
            <a:avLst/>
          </a:prstGeom>
          <a:noFill/>
          <a:ln w="9525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1920240"/>
            <a:ext cx="-457200" cy="822960"/>
          </a:xfrm>
          <a:prstGeom prst="line">
            <a:avLst/>
          </a:prstGeom>
          <a:noFill/>
          <a:ln w="9525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1920240"/>
            <a:ext cx="640080" cy="457200"/>
          </a:xfrm>
          <a:prstGeom prst="line">
            <a:avLst/>
          </a:prstGeom>
          <a:noFill/>
          <a:ln w="9525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35440" y="2743200"/>
            <a:ext cx="274320" cy="914400"/>
          </a:xfrm>
          <a:prstGeom prst="line">
            <a:avLst/>
          </a:prstGeom>
          <a:noFill/>
          <a:ln w="9525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332720" y="2377440"/>
            <a:ext cx="-822960" cy="1280160"/>
          </a:xfrm>
          <a:prstGeom prst="line">
            <a:avLst/>
          </a:prstGeom>
          <a:noFill/>
          <a:ln w="9525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0" y="3657600"/>
            <a:ext cx="1097280" cy="-274320"/>
          </a:xfrm>
          <a:prstGeom prst="line">
            <a:avLst/>
          </a:prstGeom>
          <a:noFill/>
          <a:ln w="9525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0" y="3657600"/>
            <a:ext cx="-457200" cy="822960"/>
          </a:xfrm>
          <a:prstGeom prst="line">
            <a:avLst/>
          </a:prstGeom>
          <a:noFill/>
          <a:ln w="9525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4480560"/>
            <a:ext cx="1097280" cy="365760"/>
          </a:xfrm>
          <a:prstGeom prst="line">
            <a:avLst/>
          </a:prstGeom>
          <a:noFill/>
          <a:ln w="9525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3383280"/>
            <a:ext cx="-457200" cy="1463040"/>
          </a:xfrm>
          <a:prstGeom prst="line">
            <a:avLst/>
          </a:prstGeom>
          <a:noFill/>
          <a:ln w="9525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0" y="4480560"/>
            <a:ext cx="365760" cy="1005840"/>
          </a:xfrm>
          <a:prstGeom prst="line">
            <a:avLst/>
          </a:prstGeom>
          <a:noFill/>
          <a:ln w="9525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49840" y="4846320"/>
            <a:ext cx="365760" cy="914400"/>
          </a:xfrm>
          <a:prstGeom prst="line">
            <a:avLst/>
          </a:prstGeom>
          <a:noFill/>
          <a:ln w="9525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18320" y="5486400"/>
            <a:ext cx="1097280" cy="274320"/>
          </a:xfrm>
          <a:prstGeom prst="line">
            <a:avLst/>
          </a:prstGeom>
          <a:noFill/>
          <a:ln w="9525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32520" y="123444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9646920" y="1874520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7" name="Shape 15"/>
          <p:cNvSpPr/>
          <p:nvPr/>
        </p:nvSpPr>
        <p:spPr>
          <a:xfrm>
            <a:off x="9189720" y="2697480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87000" y="233172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9" name="Shape 17"/>
          <p:cNvSpPr/>
          <p:nvPr/>
        </p:nvSpPr>
        <p:spPr>
          <a:xfrm>
            <a:off x="9464040" y="3611880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61320" y="3337560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Shape 19"/>
          <p:cNvSpPr/>
          <p:nvPr/>
        </p:nvSpPr>
        <p:spPr>
          <a:xfrm>
            <a:off x="9006840" y="443484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104120" y="4800600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Shape 21"/>
          <p:cNvSpPr/>
          <p:nvPr/>
        </p:nvSpPr>
        <p:spPr>
          <a:xfrm>
            <a:off x="9372600" y="544068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10469880" y="5715000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0" y="59893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9C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THAT LAST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412480" y="623620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graduate, one network.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4572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/>
        </p:spPr>
      </p:sp>
      <p:sp>
        <p:nvSpPr>
          <p:cNvPr id="28" name="Shape 26"/>
          <p:cNvSpPr/>
          <p:nvPr/>
        </p:nvSpPr>
        <p:spPr>
          <a:xfrm rot="-2100000">
            <a:off x="722376" y="521208"/>
            <a:ext cx="82296" cy="16459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2100000">
            <a:off x="822960" y="521208"/>
            <a:ext cx="82296" cy="16459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3252" y="516636"/>
            <a:ext cx="41148" cy="411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4389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AlumUnion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ENGAGEMENT PLATFORM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40080" y="2103120"/>
            <a:ext cx="7040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institutions that never lose touch.</a:t>
            </a:r>
            <a:endParaRPr lang="en-US" sz="3800" dirty="0"/>
          </a:p>
        </p:txBody>
      </p:sp>
      <p:sp>
        <p:nvSpPr>
          <p:cNvPr id="34" name="Text 32"/>
          <p:cNvSpPr/>
          <p:nvPr/>
        </p:nvSpPr>
        <p:spPr>
          <a:xfrm>
            <a:off x="640080" y="38862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dues, fundraising campaigns and alumni community — one platform, branded to your institution.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40080" y="4800600"/>
            <a:ext cx="142189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4800600"/>
            <a:ext cx="14218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Dues Collection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208276" y="4800600"/>
            <a:ext cx="9555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08276" y="4800600"/>
            <a:ext cx="955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310128" y="4800600"/>
            <a:ext cx="9555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10128" y="4800600"/>
            <a:ext cx="9555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008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9C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PROPOSAL FOR OLD STUDENT &amp; ALUMNI ASSOCIATIONS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 rot="-2100000">
            <a:off x="722376" y="521208"/>
            <a:ext cx="82296" cy="16459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00000">
            <a:off x="822960" y="521208"/>
            <a:ext cx="82296" cy="16459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" y="516636"/>
            <a:ext cx="41148" cy="411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389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AlumUnion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896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1887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an alumni association shouldn’t feel like this.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1737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7600" dirty="0"/>
          </a:p>
        </p:txBody>
      </p:sp>
      <p:sp>
        <p:nvSpPr>
          <p:cNvPr id="10" name="Text 8"/>
          <p:cNvSpPr/>
          <p:nvPr/>
        </p:nvSpPr>
        <p:spPr>
          <a:xfrm>
            <a:off x="640080" y="3520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WE HEAR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OFTEN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06040" y="2148840"/>
            <a:ext cx="43434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07208" y="2350008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30251" y="2472903"/>
            <a:ext cx="245791" cy="245791"/>
          </a:xfrm>
          <a:prstGeom prst="ellipse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45465" y="2373051"/>
            <a:ext cx="245791" cy="245791"/>
          </a:xfrm>
          <a:prstGeom prst="ellipse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07208" y="2880360"/>
            <a:ext cx="3941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dues collection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2807208" y="3200400"/>
            <a:ext cx="3941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and bank slips reconciled by hand, with no reliable record of who has actually paid.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05472" y="2148840"/>
            <a:ext cx="43434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06640" y="2350008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29683" y="2396094"/>
            <a:ext cx="238110" cy="161300"/>
          </a:xfrm>
          <a:prstGeom prst="roundRect">
            <a:avLst>
              <a:gd name="adj" fmla="val 17007"/>
            </a:avLst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29535" y="2526670"/>
            <a:ext cx="238110" cy="161300"/>
          </a:xfrm>
          <a:prstGeom prst="roundRect">
            <a:avLst>
              <a:gd name="adj" fmla="val 17007"/>
            </a:avLst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2880360"/>
            <a:ext cx="3941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communication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3941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spread across WhatsApp groups, email lists and word of mouth, with no single channel.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06040" y="4251960"/>
            <a:ext cx="43434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07208" y="4453128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91699" y="4483852"/>
            <a:ext cx="215067" cy="314919"/>
          </a:xfrm>
          <a:prstGeom prst="can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07208" y="4983480"/>
            <a:ext cx="3941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 member database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807208" y="5303520"/>
            <a:ext cx="3941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details, class years and payment history live in separate spreadsheets, if anywhere.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205472" y="4251960"/>
            <a:ext cx="434340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6640" y="4453128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60407" y="4645152"/>
            <a:ext cx="61448" cy="145938"/>
          </a:xfrm>
          <a:prstGeom prst="rect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67940" y="4568342"/>
            <a:ext cx="61448" cy="222748"/>
          </a:xfrm>
          <a:prstGeom prst="rect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75474" y="4506895"/>
            <a:ext cx="61448" cy="284196"/>
          </a:xfrm>
          <a:prstGeom prst="rect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0" y="4983480"/>
            <a:ext cx="3941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for leadership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406640" y="5303520"/>
            <a:ext cx="3941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clear, up-to-date view of contributions or campaign progress when reporting to the board.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6291072"/>
            <a:ext cx="10908792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6364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ALUMUNION PROPOSAL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229600" y="636422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 rot="-2100000">
            <a:off x="722376" y="521208"/>
            <a:ext cx="82296" cy="16459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00000">
            <a:off x="822960" y="521208"/>
            <a:ext cx="82296" cy="16459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" y="516636"/>
            <a:ext cx="41148" cy="411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389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AlumUnion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896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&amp; DUES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cedi collected, tracked automatically.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2011680"/>
            <a:ext cx="245059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86384" y="2139696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793" y="2209922"/>
            <a:ext cx="111191" cy="111191"/>
          </a:xfrm>
          <a:prstGeom prst="ellipse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2174809"/>
            <a:ext cx="87782" cy="87782"/>
          </a:xfrm>
          <a:prstGeom prst="ellipse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246888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86384" y="268833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their dashboard, sees what’s owed.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45536" y="2409444"/>
            <a:ext cx="256032" cy="164592"/>
          </a:xfrm>
          <a:prstGeom prst="rightArrow">
            <a:avLst/>
          </a:prstGeom>
          <a:solidFill>
            <a:srgbClr val="E3E6EC"/>
          </a:solidFill>
          <a:ln/>
        </p:spPr>
      </p:sp>
      <p:sp>
        <p:nvSpPr>
          <p:cNvPr id="16" name="Shape 14"/>
          <p:cNvSpPr/>
          <p:nvPr/>
        </p:nvSpPr>
        <p:spPr>
          <a:xfrm>
            <a:off x="3456432" y="2011680"/>
            <a:ext cx="245059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02736" y="2139696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26145" y="2198218"/>
            <a:ext cx="245791" cy="175565"/>
          </a:xfrm>
          <a:prstGeom prst="roundRect">
            <a:avLst>
              <a:gd name="adj" fmla="val 15625"/>
            </a:avLst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26145" y="2256739"/>
            <a:ext cx="245791" cy="0"/>
          </a:xfrm>
          <a:prstGeom prst="line">
            <a:avLst/>
          </a:prstGeom>
          <a:noFill/>
          <a:ln w="17780">
            <a:solidFill>
              <a:srgbClr val="0F17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02736" y="246888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602736" y="268833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payment, or a recorded manual payment.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961888" y="2409444"/>
            <a:ext cx="256032" cy="164592"/>
          </a:xfrm>
          <a:prstGeom prst="rightArrow">
            <a:avLst/>
          </a:prstGeom>
          <a:solidFill>
            <a:srgbClr val="E3E6EC"/>
          </a:solidFill>
          <a:ln/>
        </p:spPr>
      </p:sp>
      <p:sp>
        <p:nvSpPr>
          <p:cNvPr id="23" name="Shape 21"/>
          <p:cNvSpPr/>
          <p:nvPr/>
        </p:nvSpPr>
        <p:spPr>
          <a:xfrm>
            <a:off x="6272784" y="2011680"/>
            <a:ext cx="245059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19088" y="2139696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83462" y="2163105"/>
            <a:ext cx="163860" cy="239939"/>
          </a:xfrm>
          <a:prstGeom prst="can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19088" y="246888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19088" y="268833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to the ledger the moment it clears.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778240" y="2409444"/>
            <a:ext cx="256032" cy="164592"/>
          </a:xfrm>
          <a:prstGeom prst="rightArrow">
            <a:avLst/>
          </a:prstGeom>
          <a:solidFill>
            <a:srgbClr val="E3E6EC"/>
          </a:solidFill>
          <a:ln/>
        </p:spPr>
      </p:sp>
      <p:sp>
        <p:nvSpPr>
          <p:cNvPr id="29" name="Shape 27"/>
          <p:cNvSpPr/>
          <p:nvPr/>
        </p:nvSpPr>
        <p:spPr>
          <a:xfrm>
            <a:off x="9089136" y="2011680"/>
            <a:ext cx="2450592" cy="96012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235440" y="2139696"/>
            <a:ext cx="292608" cy="292608"/>
          </a:xfrm>
          <a:prstGeom prst="roundRect">
            <a:avLst>
              <a:gd name="adj" fmla="val 22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76405" y="2286000"/>
            <a:ext cx="46817" cy="111191"/>
          </a:xfrm>
          <a:prstGeom prst="rect">
            <a:avLst/>
          </a:prstGeom>
          <a:ln w="1778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358335" y="2227478"/>
            <a:ext cx="46817" cy="169713"/>
          </a:xfrm>
          <a:prstGeom prst="rect">
            <a:avLst/>
          </a:prstGeom>
          <a:ln w="1778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40266" y="2180661"/>
            <a:ext cx="46817" cy="216530"/>
          </a:xfrm>
          <a:prstGeom prst="rect">
            <a:avLst/>
          </a:prstGeom>
          <a:ln w="1778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35440" y="2468880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235440" y="2688336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9C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full picture, always current.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40080" y="32461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AUTOMATIC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0080" y="3529584"/>
            <a:ext cx="10908792" cy="0"/>
          </a:xfrm>
          <a:prstGeom prst="line">
            <a:avLst/>
          </a:prstGeom>
          <a:noFill/>
          <a:ln w="12700">
            <a:solidFill>
              <a:srgbClr val="E3E6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0080" y="3639312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6415" y="3705149"/>
            <a:ext cx="276515" cy="197510"/>
          </a:xfrm>
          <a:prstGeom prst="roundRect">
            <a:avLst>
              <a:gd name="adj" fmla="val 13889"/>
            </a:avLst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6415" y="3770986"/>
            <a:ext cx="276515" cy="0"/>
          </a:xfrm>
          <a:prstGeom prst="line">
            <a:avLst/>
          </a:prstGeom>
          <a:noFill/>
          <a:ln w="17780">
            <a:solidFill>
              <a:srgbClr val="0F17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15568" y="3621024"/>
            <a:ext cx="10433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 collection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115568" y="3858768"/>
            <a:ext cx="10433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pay by card or mobile money and see confirmation instantly.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40080" y="4224528"/>
            <a:ext cx="10908792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" y="4224528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2998" y="4257446"/>
            <a:ext cx="263347" cy="263347"/>
          </a:xfrm>
          <a:prstGeom prst="circularArrow">
            <a:avLst>
              <a:gd name="adj1" fmla="val 0"/>
              <a:gd name="adj2" fmla="val 18000000"/>
            </a:avLst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15568" y="4206240"/>
            <a:ext cx="10433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renewal tracking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115568" y="4443984"/>
            <a:ext cx="10433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member’s dues status rolls over period to period automatically.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0080" y="4809744"/>
            <a:ext cx="10908792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0080" y="4809744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72998" y="4842662"/>
            <a:ext cx="85588" cy="85588"/>
          </a:xfrm>
          <a:prstGeom prst="ellipse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4174" y="5013838"/>
            <a:ext cx="85588" cy="85588"/>
          </a:xfrm>
          <a:prstGeom prst="ellipse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2749" y="5079675"/>
            <a:ext cx="217261" cy="-197510"/>
          </a:xfrm>
          <a:prstGeom prst="line">
            <a:avLst/>
          </a:prstGeom>
          <a:noFill/>
          <a:ln w="17780">
            <a:solidFill>
              <a:srgbClr val="0F17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15568" y="4791456"/>
            <a:ext cx="10433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Pensioner &amp; discounted rates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15568" y="5029200"/>
            <a:ext cx="10433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rate applies automatically for eligible members.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40080" y="5394960"/>
            <a:ext cx="10908792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0080" y="5394960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66415" y="5434462"/>
            <a:ext cx="263347" cy="263347"/>
          </a:xfrm>
          <a:prstGeom prst="ellipse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04672" y="5493715"/>
            <a:ext cx="0" cy="79004"/>
          </a:xfrm>
          <a:prstGeom prst="line">
            <a:avLst/>
          </a:prstGeom>
          <a:noFill/>
          <a:ln w="17780">
            <a:solidFill>
              <a:srgbClr val="0F172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4672" y="5566136"/>
            <a:ext cx="52669" cy="0"/>
          </a:xfrm>
          <a:prstGeom prst="line">
            <a:avLst/>
          </a:prstGeom>
          <a:noFill/>
          <a:ln w="17780">
            <a:solidFill>
              <a:srgbClr val="0F172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15568" y="5376672"/>
            <a:ext cx="10433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Arrears tracking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115568" y="5614416"/>
            <a:ext cx="10433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Unpaid years are flagged on the member’s record automatically.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40080" y="6291072"/>
            <a:ext cx="10908792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" y="6364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ALUMUNION PROPOSAL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8229600" y="636422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 rot="-2100000">
            <a:off x="722376" y="521208"/>
            <a:ext cx="82296" cy="16459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00000">
            <a:off x="822960" y="521208"/>
            <a:ext cx="82296" cy="16459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" y="516636"/>
            <a:ext cx="41148" cy="411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389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AlumUnion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896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FUNDRAISING CAMPAIGNS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 a drive, watch it grow.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37490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2057400"/>
            <a:ext cx="3749040" cy="1051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3246120"/>
            <a:ext cx="624840" cy="-1188720"/>
          </a:xfrm>
          <a:prstGeom prst="line">
            <a:avLst/>
          </a:prstGeom>
          <a:noFill/>
          <a:ln w="9525">
            <a:solidFill>
              <a:srgbClr val="F59E0B">
                <a:alpha val="5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89888" y="3246120"/>
            <a:ext cx="624840" cy="-1188720"/>
          </a:xfrm>
          <a:prstGeom prst="line">
            <a:avLst/>
          </a:prstGeom>
          <a:noFill/>
          <a:ln w="9525">
            <a:solidFill>
              <a:srgbClr val="2563EB">
                <a:alpha val="5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39696" y="3246120"/>
            <a:ext cx="624840" cy="-1188720"/>
          </a:xfrm>
          <a:prstGeom prst="line">
            <a:avLst/>
          </a:prstGeom>
          <a:noFill/>
          <a:ln w="9525">
            <a:solidFill>
              <a:srgbClr val="F59E0B">
                <a:alpha val="5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9504" y="3246120"/>
            <a:ext cx="624840" cy="-1188720"/>
          </a:xfrm>
          <a:prstGeom prst="line">
            <a:avLst/>
          </a:prstGeom>
          <a:noFill/>
          <a:ln w="9525">
            <a:solidFill>
              <a:srgbClr val="2563EB">
                <a:alpha val="5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39312" y="3246120"/>
            <a:ext cx="624840" cy="-1188720"/>
          </a:xfrm>
          <a:prstGeom prst="line">
            <a:avLst/>
          </a:prstGeom>
          <a:noFill/>
          <a:ln w="9525">
            <a:solidFill>
              <a:srgbClr val="F59E0B">
                <a:alpha val="5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" y="3264408"/>
            <a:ext cx="1828800" cy="274320"/>
          </a:xfrm>
          <a:prstGeom prst="roundRect">
            <a:avLst>
              <a:gd name="adj" fmla="val 50000"/>
            </a:avLst>
          </a:prstGeom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264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OF 2010–2020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59536" y="3630168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Lab Fund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9536" y="3941064"/>
            <a:ext cx="3310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Refurbishing the workshop for current students.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59536" y="4389120"/>
            <a:ext cx="3310128" cy="82296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/>
        </p:spPr>
      </p:sp>
      <p:sp>
        <p:nvSpPr>
          <p:cNvPr id="21" name="Shape 19"/>
          <p:cNvSpPr/>
          <p:nvPr/>
        </p:nvSpPr>
        <p:spPr>
          <a:xfrm>
            <a:off x="859536" y="4389120"/>
            <a:ext cx="2250887" cy="8229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859536" y="452628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GHS 34,000 of 50,000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926080" y="4526280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days left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59536" y="4855464"/>
            <a:ext cx="3310128" cy="310896"/>
          </a:xfrm>
          <a:prstGeom prst="roundRect">
            <a:avLst>
              <a:gd name="adj" fmla="val 17647"/>
            </a:avLst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859536" y="4855464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531266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C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sample — not real data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800600" y="210312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24740" y="2127260"/>
            <a:ext cx="354056" cy="354056"/>
          </a:xfrm>
          <a:prstGeom prst="ellipse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09231" y="2211751"/>
            <a:ext cx="185075" cy="185075"/>
          </a:xfrm>
          <a:prstGeom prst="ellipse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77628" y="2280148"/>
            <a:ext cx="48280" cy="4828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5349240" y="2084832"/>
            <a:ext cx="6199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by class year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349240" y="2322576"/>
            <a:ext cx="6199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a drive at every member, or just the classes most likely to give.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090672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89114" y="3114812"/>
            <a:ext cx="225308" cy="354056"/>
          </a:xfrm>
          <a:prstGeom prst="upArrow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49240" y="3072384"/>
            <a:ext cx="6199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progress tracking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349240" y="3310128"/>
            <a:ext cx="6199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contributor sees the running total move — momentum sells itself.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4078224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32787" y="4158691"/>
            <a:ext cx="337962" cy="241402"/>
          </a:xfrm>
          <a:prstGeom prst="roundRect">
            <a:avLst>
              <a:gd name="adj" fmla="val 11364"/>
            </a:avLst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32787" y="4239158"/>
            <a:ext cx="337962" cy="0"/>
          </a:xfrm>
          <a:prstGeom prst="line">
            <a:avLst/>
          </a:prstGeom>
          <a:noFill/>
          <a:ln w="17780">
            <a:solidFill>
              <a:srgbClr val="0F17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49240" y="4059936"/>
            <a:ext cx="6199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and manual payment options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5349240" y="4297680"/>
            <a:ext cx="6199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Card, mobile money, or a recorded cash/transfer gift — whichever suits the giver.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0600" y="5065776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24740" y="5097963"/>
            <a:ext cx="354056" cy="112654"/>
          </a:xfrm>
          <a:prstGeom prst="triangle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40834" y="5234757"/>
            <a:ext cx="321869" cy="185075"/>
          </a:xfrm>
          <a:prstGeom prst="rect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49240" y="5047488"/>
            <a:ext cx="6199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Disbursement tracking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5349240" y="5285232"/>
            <a:ext cx="6199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what’s been forwarded to the institution’s bank account.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" y="6291072"/>
            <a:ext cx="10908792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6364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ALUMUNION PROPOSAL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8229600" y="636422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 rot="-2100000">
            <a:off x="722376" y="521208"/>
            <a:ext cx="82296" cy="16459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00000">
            <a:off x="822960" y="521208"/>
            <a:ext cx="82296" cy="16459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" y="516636"/>
            <a:ext cx="41148" cy="411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389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AlumUnion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896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ENGAGEMENT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188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every alumnus connected.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40080" y="17556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dues — a reason for alumni to open the app more than once a year.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257632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404872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1007" y="2516795"/>
            <a:ext cx="276515" cy="177759"/>
          </a:xfrm>
          <a:prstGeom prst="roundRect">
            <a:avLst>
              <a:gd name="adj" fmla="val 10288"/>
            </a:avLst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6595" y="2450958"/>
            <a:ext cx="105339" cy="65837"/>
          </a:xfrm>
          <a:prstGeom prst="roundRect">
            <a:avLst>
              <a:gd name="adj" fmla="val 20833"/>
            </a:avLst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2862072"/>
            <a:ext cx="2247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3136392"/>
            <a:ext cx="2247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post and find opportunities within the network.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17570" y="2240280"/>
            <a:ext cx="2576322" cy="1874520"/>
          </a:xfrm>
          <a:prstGeom prst="roundRect">
            <a:avLst>
              <a:gd name="adj" fmla="val 292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82162" y="2404872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15080" y="2450958"/>
            <a:ext cx="263347" cy="243596"/>
          </a:xfrm>
          <a:prstGeom prst="rect">
            <a:avLst/>
          </a:prstGeom>
          <a:ln w="1778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15080" y="2523378"/>
            <a:ext cx="263347" cy="0"/>
          </a:xfrm>
          <a:prstGeom prst="line">
            <a:avLst/>
          </a:prstGeom>
          <a:noFill/>
          <a:ln w="1778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82162" y="2862072"/>
            <a:ext cx="2247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&amp; RSVP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82162" y="3136392"/>
            <a:ext cx="2247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Reunions and gatherings with capacity and attendance tracking.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95060" y="2240280"/>
            <a:ext cx="257632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59652" y="2404872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92570" y="2437790"/>
            <a:ext cx="263347" cy="263347"/>
          </a:xfrm>
          <a:prstGeom prst="rect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38656" y="2516795"/>
            <a:ext cx="171176" cy="0"/>
          </a:xfrm>
          <a:prstGeom prst="line">
            <a:avLst/>
          </a:prstGeom>
          <a:noFill/>
          <a:ln w="15113">
            <a:solidFill>
              <a:srgbClr val="0F17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38656" y="2576048"/>
            <a:ext cx="171176" cy="0"/>
          </a:xfrm>
          <a:prstGeom prst="line">
            <a:avLst/>
          </a:prstGeom>
          <a:noFill/>
          <a:ln w="15113">
            <a:solidFill>
              <a:srgbClr val="0F17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38656" y="2635301"/>
            <a:ext cx="98755" cy="0"/>
          </a:xfrm>
          <a:prstGeom prst="line">
            <a:avLst/>
          </a:prstGeom>
          <a:noFill/>
          <a:ln w="15113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9652" y="2862072"/>
            <a:ext cx="2247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359652" y="3136392"/>
            <a:ext cx="2247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and stories, pinned and published by staff.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8972550" y="2240280"/>
            <a:ext cx="257632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37142" y="2404872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63477" y="2483876"/>
            <a:ext cx="125090" cy="125090"/>
          </a:xfrm>
          <a:prstGeom prst="ellipse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301734" y="2444374"/>
            <a:ext cx="98755" cy="98755"/>
          </a:xfrm>
          <a:prstGeom prst="ellipse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37142" y="2862072"/>
            <a:ext cx="2247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Directory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37142" y="3136392"/>
            <a:ext cx="2247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searchable roster of every graduate, by name or class year.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" y="4315968"/>
            <a:ext cx="2576322" cy="1874520"/>
          </a:xfrm>
          <a:prstGeom prst="roundRect">
            <a:avLst>
              <a:gd name="adj" fmla="val 292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" y="4480560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4423" y="4533229"/>
            <a:ext cx="289682" cy="164592"/>
          </a:xfrm>
          <a:prstGeom prst="triangle">
            <a:avLst/>
          </a:prstGeom>
          <a:ln w="1778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" y="4937760"/>
            <a:ext cx="2247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04672" y="5212080"/>
            <a:ext cx="2247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pair with current students and recent alumni.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417570" y="4315968"/>
            <a:ext cx="257632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82162" y="4480560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08497" y="4526646"/>
            <a:ext cx="276515" cy="197510"/>
          </a:xfrm>
          <a:prstGeom prst="roundRect">
            <a:avLst>
              <a:gd name="adj" fmla="val 18519"/>
            </a:avLst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82162" y="4937760"/>
            <a:ext cx="2247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3582162" y="5212080"/>
            <a:ext cx="2247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discussion, moderated, organised by category.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195060" y="4315968"/>
            <a:ext cx="2576322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59652" y="4480560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18905" y="4506895"/>
            <a:ext cx="223845" cy="276515"/>
          </a:xfrm>
          <a:prstGeom prst="rect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58407" y="4579315"/>
            <a:ext cx="138257" cy="0"/>
          </a:xfrm>
          <a:prstGeom prst="line">
            <a:avLst/>
          </a:prstGeom>
          <a:noFill/>
          <a:ln w="15113">
            <a:solidFill>
              <a:srgbClr val="0F172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58407" y="4645152"/>
            <a:ext cx="138257" cy="0"/>
          </a:xfrm>
          <a:prstGeom prst="line">
            <a:avLst/>
          </a:prstGeom>
          <a:noFill/>
          <a:ln w="15113">
            <a:solidFill>
              <a:srgbClr val="0F17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9652" y="4937760"/>
            <a:ext cx="2247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Notes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359652" y="5212080"/>
            <a:ext cx="2247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running record of updates from each graduating class.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8972550" y="4315968"/>
            <a:ext cx="2576322" cy="1874520"/>
          </a:xfrm>
          <a:prstGeom prst="roundRect">
            <a:avLst>
              <a:gd name="adj" fmla="val 292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137142" y="4480560"/>
            <a:ext cx="329184" cy="329184"/>
          </a:xfrm>
          <a:prstGeom prst="roundRect">
            <a:avLst>
              <a:gd name="adj" fmla="val 22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156893" y="4500311"/>
            <a:ext cx="289682" cy="289682"/>
          </a:xfrm>
          <a:prstGeom prst="star5">
            <a:avLst/>
          </a:prstGeom>
          <a:ln w="1778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137142" y="4937760"/>
            <a:ext cx="2247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Spotlights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9137142" y="5212080"/>
            <a:ext cx="22471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9C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success stories, self-submitted or staff-featured.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0080" y="6291072"/>
            <a:ext cx="10908792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6364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ALUMUNION PROPOSAL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8229600" y="636422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 rot="-2100000">
            <a:off x="722376" y="521208"/>
            <a:ext cx="82296" cy="16459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00000">
            <a:off x="822960" y="521208"/>
            <a:ext cx="82296" cy="16459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" y="516636"/>
            <a:ext cx="41148" cy="411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389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AlumUnion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896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 &amp; YOUR BRAND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188720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control for your staff. Your identity for your alumni.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640080" y="233172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9341" y="2353666"/>
            <a:ext cx="307238" cy="321869"/>
          </a:xfrm>
          <a:prstGeom prst="pentagon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52144" y="2313432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approval workflow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52144" y="2551176"/>
            <a:ext cx="3785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registrants are reviewed and approved before they gain access.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264408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286354"/>
            <a:ext cx="146304" cy="182880"/>
          </a:xfrm>
          <a:prstGeom prst="downArrow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" y="3498494"/>
            <a:ext cx="292608" cy="80467"/>
          </a:xfrm>
          <a:prstGeom prst="rect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144" y="3246120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roster import / export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52144" y="3483864"/>
            <a:ext cx="3785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an existing alumni list in at once, or export the roster anytime.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4197096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9341" y="4350715"/>
            <a:ext cx="131674" cy="131674"/>
          </a:xfrm>
          <a:prstGeom prst="ellipse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" y="4409237"/>
            <a:ext cx="182880" cy="-175565"/>
          </a:xfrm>
          <a:prstGeom prst="line">
            <a:avLst/>
          </a:prstGeom>
          <a:noFill/>
          <a:ln w="1778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52144" y="4178808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staff access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2144" y="4416552"/>
            <a:ext cx="3785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can be scoped to their own assigned cohort or year-group.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5129784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F9F9FB"/>
          </a:solidFill>
          <a:ln w="9525">
            <a:solidFill>
              <a:srgbClr val="E3E6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5151730"/>
            <a:ext cx="146304" cy="182880"/>
          </a:xfrm>
          <a:prstGeom prst="downArrow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5363870"/>
            <a:ext cx="292608" cy="80467"/>
          </a:xfrm>
          <a:prstGeom prst="rect">
            <a:avLst/>
          </a:prstGeom>
          <a:ln w="1778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52144" y="5111496"/>
            <a:ext cx="3785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reporting exports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52144" y="5349240"/>
            <a:ext cx="37856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Members, contributions, events, jobs and campaigns, ready for the board.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57800" y="19659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PORTAL, YOUR BRAND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257800" y="2286000"/>
            <a:ext cx="565099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57800" y="2286000"/>
            <a:ext cx="5650992" cy="201168"/>
          </a:xfrm>
          <a:prstGeom prst="rect">
            <a:avLst/>
          </a:prstGeom>
          <a:solidFill>
            <a:srgbClr val="F1F3F6"/>
          </a:solidFill>
          <a:ln/>
        </p:spPr>
      </p:sp>
      <p:sp>
        <p:nvSpPr>
          <p:cNvPr id="31" name="Shape 29"/>
          <p:cNvSpPr/>
          <p:nvPr/>
        </p:nvSpPr>
        <p:spPr>
          <a:xfrm>
            <a:off x="5367528" y="2359152"/>
            <a:ext cx="54864" cy="54864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32" name="Shape 30"/>
          <p:cNvSpPr/>
          <p:nvPr/>
        </p:nvSpPr>
        <p:spPr>
          <a:xfrm>
            <a:off x="5495544" y="2359152"/>
            <a:ext cx="54864" cy="54864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33" name="Shape 31"/>
          <p:cNvSpPr/>
          <p:nvPr/>
        </p:nvSpPr>
        <p:spPr>
          <a:xfrm>
            <a:off x="5623560" y="2359152"/>
            <a:ext cx="54864" cy="54864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34" name="Shape 32"/>
          <p:cNvSpPr/>
          <p:nvPr/>
        </p:nvSpPr>
        <p:spPr>
          <a:xfrm>
            <a:off x="5367528" y="261518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0F172A"/>
          </a:solidFill>
          <a:ln/>
        </p:spPr>
      </p:sp>
      <p:sp>
        <p:nvSpPr>
          <p:cNvPr id="35" name="Shape 33"/>
          <p:cNvSpPr/>
          <p:nvPr/>
        </p:nvSpPr>
        <p:spPr>
          <a:xfrm>
            <a:off x="5897880" y="2706624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E6F4FE"/>
          </a:solidFill>
          <a:ln/>
        </p:spPr>
      </p:sp>
      <p:sp>
        <p:nvSpPr>
          <p:cNvPr id="36" name="Shape 34"/>
          <p:cNvSpPr/>
          <p:nvPr/>
        </p:nvSpPr>
        <p:spPr>
          <a:xfrm>
            <a:off x="7452360" y="2706624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F1F3F6"/>
          </a:solidFill>
          <a:ln/>
        </p:spPr>
      </p:sp>
      <p:sp>
        <p:nvSpPr>
          <p:cNvPr id="37" name="Shape 35"/>
          <p:cNvSpPr/>
          <p:nvPr/>
        </p:nvSpPr>
        <p:spPr>
          <a:xfrm>
            <a:off x="9006840" y="2706624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F1F3F6"/>
          </a:solidFill>
          <a:ln/>
        </p:spPr>
      </p:sp>
      <p:sp>
        <p:nvSpPr>
          <p:cNvPr id="38" name="Shape 36"/>
          <p:cNvSpPr/>
          <p:nvPr/>
        </p:nvSpPr>
        <p:spPr>
          <a:xfrm>
            <a:off x="5257800" y="3319272"/>
            <a:ext cx="565099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257800" y="3319272"/>
            <a:ext cx="5650992" cy="201168"/>
          </a:xfrm>
          <a:prstGeom prst="rect">
            <a:avLst/>
          </a:prstGeom>
          <a:solidFill>
            <a:srgbClr val="F1F3F6"/>
          </a:solidFill>
          <a:ln/>
        </p:spPr>
      </p:sp>
      <p:sp>
        <p:nvSpPr>
          <p:cNvPr id="40" name="Shape 38"/>
          <p:cNvSpPr/>
          <p:nvPr/>
        </p:nvSpPr>
        <p:spPr>
          <a:xfrm>
            <a:off x="5367528" y="3392424"/>
            <a:ext cx="54864" cy="54864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41" name="Shape 39"/>
          <p:cNvSpPr/>
          <p:nvPr/>
        </p:nvSpPr>
        <p:spPr>
          <a:xfrm>
            <a:off x="5495544" y="3392424"/>
            <a:ext cx="54864" cy="54864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42" name="Shape 40"/>
          <p:cNvSpPr/>
          <p:nvPr/>
        </p:nvSpPr>
        <p:spPr>
          <a:xfrm>
            <a:off x="5623560" y="3392424"/>
            <a:ext cx="54864" cy="54864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43" name="Shape 41"/>
          <p:cNvSpPr/>
          <p:nvPr/>
        </p:nvSpPr>
        <p:spPr>
          <a:xfrm>
            <a:off x="5367528" y="364845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34E4A"/>
          </a:solidFill>
          <a:ln/>
        </p:spPr>
      </p:sp>
      <p:sp>
        <p:nvSpPr>
          <p:cNvPr id="44" name="Shape 42"/>
          <p:cNvSpPr/>
          <p:nvPr/>
        </p:nvSpPr>
        <p:spPr>
          <a:xfrm>
            <a:off x="5897880" y="3739896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CCFBF1"/>
          </a:solidFill>
          <a:ln/>
        </p:spPr>
      </p:sp>
      <p:sp>
        <p:nvSpPr>
          <p:cNvPr id="45" name="Shape 43"/>
          <p:cNvSpPr/>
          <p:nvPr/>
        </p:nvSpPr>
        <p:spPr>
          <a:xfrm>
            <a:off x="7452360" y="3739896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F1F3F6"/>
          </a:solidFill>
          <a:ln/>
        </p:spPr>
      </p:sp>
      <p:sp>
        <p:nvSpPr>
          <p:cNvPr id="46" name="Shape 44"/>
          <p:cNvSpPr/>
          <p:nvPr/>
        </p:nvSpPr>
        <p:spPr>
          <a:xfrm>
            <a:off x="9006840" y="3739896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F1F3F6"/>
          </a:solidFill>
          <a:ln/>
        </p:spPr>
      </p:sp>
      <p:sp>
        <p:nvSpPr>
          <p:cNvPr id="47" name="Shape 45"/>
          <p:cNvSpPr/>
          <p:nvPr/>
        </p:nvSpPr>
        <p:spPr>
          <a:xfrm>
            <a:off x="5257800" y="4352544"/>
            <a:ext cx="5650992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57800" y="4352544"/>
            <a:ext cx="5650992" cy="201168"/>
          </a:xfrm>
          <a:prstGeom prst="rect">
            <a:avLst/>
          </a:prstGeom>
          <a:solidFill>
            <a:srgbClr val="F1F3F6"/>
          </a:solidFill>
          <a:ln/>
        </p:spPr>
      </p:sp>
      <p:sp>
        <p:nvSpPr>
          <p:cNvPr id="49" name="Shape 47"/>
          <p:cNvSpPr/>
          <p:nvPr/>
        </p:nvSpPr>
        <p:spPr>
          <a:xfrm>
            <a:off x="5367528" y="4425696"/>
            <a:ext cx="54864" cy="54864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50" name="Shape 48"/>
          <p:cNvSpPr/>
          <p:nvPr/>
        </p:nvSpPr>
        <p:spPr>
          <a:xfrm>
            <a:off x="5495544" y="4425696"/>
            <a:ext cx="54864" cy="54864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51" name="Shape 49"/>
          <p:cNvSpPr/>
          <p:nvPr/>
        </p:nvSpPr>
        <p:spPr>
          <a:xfrm>
            <a:off x="5623560" y="4425696"/>
            <a:ext cx="54864" cy="54864"/>
          </a:xfrm>
          <a:prstGeom prst="ellipse">
            <a:avLst/>
          </a:prstGeom>
          <a:solidFill>
            <a:srgbClr val="E3E6EC"/>
          </a:solidFill>
          <a:ln/>
        </p:spPr>
      </p:sp>
      <p:sp>
        <p:nvSpPr>
          <p:cNvPr id="52" name="Shape 50"/>
          <p:cNvSpPr/>
          <p:nvPr/>
        </p:nvSpPr>
        <p:spPr>
          <a:xfrm>
            <a:off x="5367528" y="468172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7C2D12"/>
          </a:solidFill>
          <a:ln/>
        </p:spPr>
      </p:sp>
      <p:sp>
        <p:nvSpPr>
          <p:cNvPr id="53" name="Shape 51"/>
          <p:cNvSpPr/>
          <p:nvPr/>
        </p:nvSpPr>
        <p:spPr>
          <a:xfrm>
            <a:off x="5897880" y="4773168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FFEDD5"/>
          </a:solidFill>
          <a:ln/>
        </p:spPr>
      </p:sp>
      <p:sp>
        <p:nvSpPr>
          <p:cNvPr id="54" name="Shape 52"/>
          <p:cNvSpPr/>
          <p:nvPr/>
        </p:nvSpPr>
        <p:spPr>
          <a:xfrm>
            <a:off x="7452360" y="4773168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F1F3F6"/>
          </a:solidFill>
          <a:ln/>
        </p:spPr>
      </p:sp>
      <p:sp>
        <p:nvSpPr>
          <p:cNvPr id="55" name="Shape 53"/>
          <p:cNvSpPr/>
          <p:nvPr/>
        </p:nvSpPr>
        <p:spPr>
          <a:xfrm>
            <a:off x="9006840" y="4773168"/>
            <a:ext cx="1417320" cy="201168"/>
          </a:xfrm>
          <a:prstGeom prst="roundRect">
            <a:avLst>
              <a:gd name="adj" fmla="val 22727"/>
            </a:avLst>
          </a:prstGeom>
          <a:solidFill>
            <a:srgbClr val="F1F3F6"/>
          </a:solidFill>
          <a:ln/>
        </p:spPr>
      </p:sp>
      <p:sp>
        <p:nvSpPr>
          <p:cNvPr id="56" name="Text 54"/>
          <p:cNvSpPr/>
          <p:nvPr/>
        </p:nvSpPr>
        <p:spPr>
          <a:xfrm>
            <a:off x="5257800" y="5431536"/>
            <a:ext cx="5650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9C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logo, palette and name apply across the whole member experience.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40080" y="6291072"/>
            <a:ext cx="10908792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" y="6364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ALUMUNION PROPOSAL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8229600" y="636422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 rot="-2100000">
            <a:off x="722376" y="521208"/>
            <a:ext cx="82296" cy="16459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00000">
            <a:off x="822960" y="521208"/>
            <a:ext cx="82296" cy="16459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" y="516636"/>
            <a:ext cx="41148" cy="411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389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AlumUnion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896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PRODUCTION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Already live. Already working.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331720"/>
            <a:ext cx="301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since 2026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59536" y="2724912"/>
            <a:ext cx="301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today, not a concept or a prototype.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67784" y="214884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7240" y="2331720"/>
            <a:ext cx="301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87240" y="2724912"/>
            <a:ext cx="301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Dues, campaigns and community in a single system — no separate tools to reconcile.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095488" y="214884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14944" y="2331720"/>
            <a:ext cx="3014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Ghana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14944" y="2724912"/>
            <a:ext cx="30144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payments, cedi pricing, and local support.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" y="3886200"/>
            <a:ext cx="10908792" cy="2240280"/>
          </a:xfrm>
          <a:prstGeom prst="roundRect">
            <a:avLst>
              <a:gd name="adj" fmla="val 4082"/>
            </a:avLst>
          </a:prstGeom>
          <a:solidFill>
            <a:srgbClr val="0F172A"/>
          </a:solidFill>
          <a:ln/>
        </p:spPr>
      </p:sp>
      <p:sp>
        <p:nvSpPr>
          <p:cNvPr id="19" name="Shape 17"/>
          <p:cNvSpPr/>
          <p:nvPr/>
        </p:nvSpPr>
        <p:spPr>
          <a:xfrm>
            <a:off x="9966960" y="3520440"/>
            <a:ext cx="2011680" cy="2011680"/>
          </a:xfrm>
          <a:prstGeom prst="ellipse">
            <a:avLst/>
          </a:prstGeom>
          <a:ln w="12700">
            <a:solidFill>
              <a:srgbClr val="F59E0B">
                <a:alpha val="2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206240"/>
            <a:ext cx="8595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F9F9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AlumUnion runs the </a:t>
            </a:r>
            <a:pPr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 of Mines and Technology (UMaT) Old Students Association</a:t>
            </a:r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F9F9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today — membership dues, fundraising campaigns and community, in daily use.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05840" y="54864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reference available on request — ask for a walkthrough at alumunion.com.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6291072"/>
            <a:ext cx="10908792" cy="0"/>
          </a:xfrm>
          <a:prstGeom prst="line">
            <a:avLst/>
          </a:prstGeom>
          <a:noFill/>
          <a:ln w="9525">
            <a:solidFill>
              <a:srgbClr val="E3E6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364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ALUMUNION PROPOSAL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8229600" y="636422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 rot="-2100000">
            <a:off x="722376" y="521208"/>
            <a:ext cx="82296" cy="164592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100000">
            <a:off x="822960" y="521208"/>
            <a:ext cx="82296" cy="164592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3252" y="516636"/>
            <a:ext cx="41148" cy="411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43891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AlumUnion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TALK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1207008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modernize your alumni association?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C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us a request on our website and we’ll help you get your institution onboarded.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3453384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59536" y="3611880"/>
            <a:ext cx="301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request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59536" y="3913632"/>
            <a:ext cx="301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C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us a little about your institution on alumunion.com.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67784" y="3063240"/>
            <a:ext cx="3453384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87240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87240" y="3611880"/>
            <a:ext cx="301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set up your portal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587240" y="3913632"/>
            <a:ext cx="301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C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to you, with your roster imported.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95488" y="3063240"/>
            <a:ext cx="3453384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14944" y="32004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14944" y="3611880"/>
            <a:ext cx="301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alumni go live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14944" y="3913632"/>
            <a:ext cx="3014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9C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Dues, campaigns and community, ready to use.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" y="4937760"/>
            <a:ext cx="1090879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1389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C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" y="5367528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alumunion.com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348472" y="5193792"/>
            <a:ext cx="32004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8348472" y="519379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Onboarding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6291072"/>
            <a:ext cx="10908792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6364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50" kern="0" dirty="0">
                <a:solidFill>
                  <a:srgbClr val="9C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ALUMUNION PROPOSAL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229600" y="6364224"/>
            <a:ext cx="3319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150" kern="0" dirty="0">
                <a:solidFill>
                  <a:srgbClr val="9C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AlumUnion Institution Proposal</dc:title>
  <dc:subject>PptxGenJS Presentation</dc:subject>
  <dc:creator>AlumUnion</dc:creator>
  <cp:lastModifiedBy>AlumUnion</cp:lastModifiedBy>
  <cp:revision>1</cp:revision>
  <dcterms:created xsi:type="dcterms:W3CDTF">2026-09-15T12:01:02Z</dcterms:created>
  <dcterms:modified xsi:type="dcterms:W3CDTF">2026-09-15T12:01:02Z</dcterms:modified>
</cp:coreProperties>
</file>